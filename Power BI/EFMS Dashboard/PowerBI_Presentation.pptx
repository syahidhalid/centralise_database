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302" r:id="rId5"/>
    <p:sldId id="303" r:id="rId6"/>
    <p:sldId id="304" r:id="rId7"/>
    <p:sldId id="2561" r:id="rId8"/>
    <p:sldId id="2562" r:id="rId9"/>
    <p:sldId id="2563" r:id="rId10"/>
    <p:sldId id="2564" r:id="rId11"/>
    <p:sldId id="2565" r:id="rId12"/>
    <p:sldId id="2566" r:id="rId13"/>
    <p:sldId id="2567" r:id="rId14"/>
    <p:sldId id="2568" r:id="rId15"/>
    <p:sldId id="2569" r:id="rId16"/>
    <p:sldId id="2570" r:id="rId17"/>
    <p:sldId id="2571" r:id="rId18"/>
    <p:sldId id="25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wer BI Dashboard: Driving Insights Securely" id="{74F97CAA-7CC9-4D2B-9B6B-C61C339EAC01}">
          <p14:sldIdLst>
            <p14:sldId id="302"/>
            <p14:sldId id="303"/>
            <p14:sldId id="304"/>
            <p14:sldId id="2561"/>
          </p14:sldIdLst>
        </p14:section>
        <p14:section name="Introduction to Power BI" id="{BE4016CD-68E4-4122-9FA7-7F4006BF55EB}">
          <p14:sldIdLst>
            <p14:sldId id="2562"/>
            <p14:sldId id="2563"/>
          </p14:sldIdLst>
        </p14:section>
        <p14:section name="Importance of the Dashboard" id="{E37BE7A6-7626-47AD-8825-95B747A162B1}">
          <p14:sldIdLst>
            <p14:sldId id="2564"/>
            <p14:sldId id="2565"/>
          </p14:sldIdLst>
        </p14:section>
        <p14:section name="Security and Compliance" id="{4DC8F1C5-1B75-4B25-81B4-E1F5A6598CF6}">
          <p14:sldIdLst>
            <p14:sldId id="2566"/>
            <p14:sldId id="2567"/>
          </p14:sldIdLst>
        </p14:section>
        <p14:section name="Strategic Benefits of Power BI" id="{7ABA87AF-7E30-43E3-9955-CF7716624F3B}">
          <p14:sldIdLst>
            <p14:sldId id="2568"/>
            <p14:sldId id="2569"/>
          </p14:sldIdLst>
        </p14:section>
        <p14:section name="Next Steps" id="{C5EF1C5B-19A7-4CCC-81EE-ECAF232B6C11}">
          <p14:sldIdLst>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EA8FD4-5F3B-4C2A-990E-69A00D9C9122}" v="15" dt="2025-11-24T03:42:58.5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p:cViewPr varScale="1">
        <p:scale>
          <a:sx n="97" d="100"/>
          <a:sy n="97" d="100"/>
        </p:scale>
        <p:origin x="99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10E03A-1D1A-4A01-B688-00C8A2A739F8}" type="datetimeFigureOut">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C78F1-C6E9-4AC0-9A88-9AC2A3A68A60}" type="slidenum">
              <a:t>‹#›</a:t>
            </a:fld>
            <a:endParaRPr lang="en-US"/>
          </a:p>
        </p:txBody>
      </p:sp>
    </p:spTree>
    <p:extLst>
      <p:ext uri="{BB962C8B-B14F-4D97-AF65-F5344CB8AC3E}">
        <p14:creationId xmlns:p14="http://schemas.microsoft.com/office/powerpoint/2010/main" val="236626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F31CB30C-60EF-4ED8-BE35-3D9B9A4EFA79}" type="slidenum">
              <a:t>4</a:t>
            </a:fld>
            <a:endParaRPr lang="en-US"/>
          </a:p>
        </p:txBody>
      </p:sp>
    </p:spTree>
    <p:extLst>
      <p:ext uri="{BB962C8B-B14F-4D97-AF65-F5344CB8AC3E}">
        <p14:creationId xmlns:p14="http://schemas.microsoft.com/office/powerpoint/2010/main" val="578031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Power BI?</a:t>
            </a:r>
          </a:p>
        </p:txBody>
      </p:sp>
      <p:sp>
        <p:nvSpPr>
          <p:cNvPr id="4" name="Slide Number Placeholder 3"/>
          <p:cNvSpPr>
            <a:spLocks noGrp="1"/>
          </p:cNvSpPr>
          <p:nvPr>
            <p:ph type="sldNum" sz="quarter" idx="5"/>
          </p:nvPr>
        </p:nvSpPr>
        <p:spPr/>
        <p:txBody>
          <a:bodyPr/>
          <a:lstStyle/>
          <a:p>
            <a:fld id="{F31CB30C-60EF-4ED8-BE35-3D9B9A4EFA79}" type="slidenum">
              <a:t>5</a:t>
            </a:fld>
            <a:endParaRPr lang="en-US"/>
          </a:p>
        </p:txBody>
      </p:sp>
    </p:spTree>
    <p:extLst>
      <p:ext uri="{BB962C8B-B14F-4D97-AF65-F5344CB8AC3E}">
        <p14:creationId xmlns:p14="http://schemas.microsoft.com/office/powerpoint/2010/main" val="1678812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Power BI is a business intelligence tool developed by Microsoft that enables organizations to transform raw data into interactive dashboards and insightful reports. It provides a platform for real-time analytics, allowing decision-makers to access and interpret data quickly and accurately. Power BI integrates seamlessly with various data sources, including Excel, SQL databases, and cloud services, ensuring flexibility and scalability for businesses of all sizes. Its cloud-based architecture ensures accessibility across devices, enabling users to view and interact with dashboards from desktops, tablets, or smartphones. This capability supports remote work and collaboration, which is increasingly important in modern business environments. Furthermore, Power BI offers advanced visualization options, making complex datasets easier to understand through charts, graphs, and interactive elements. By leveraging these features, organizations can make informed decisions, identify trends, and optimize operations efficiently.</a:t>
            </a:r>
          </a:p>
        </p:txBody>
      </p:sp>
      <p:sp>
        <p:nvSpPr>
          <p:cNvPr id="4" name="Slide Number Placeholder 3"/>
          <p:cNvSpPr>
            <a:spLocks noGrp="1"/>
          </p:cNvSpPr>
          <p:nvPr>
            <p:ph type="sldNum" sz="quarter" idx="5"/>
          </p:nvPr>
        </p:nvSpPr>
        <p:spPr/>
        <p:txBody>
          <a:bodyPr/>
          <a:lstStyle/>
          <a:p>
            <a:fld id="{F31CB30C-60EF-4ED8-BE35-3D9B9A4EFA79}" type="slidenum">
              <a:t>6</a:t>
            </a:fld>
            <a:endParaRPr lang="en-US"/>
          </a:p>
        </p:txBody>
      </p:sp>
    </p:spTree>
    <p:extLst>
      <p:ext uri="{BB962C8B-B14F-4D97-AF65-F5344CB8AC3E}">
        <p14:creationId xmlns:p14="http://schemas.microsoft.com/office/powerpoint/2010/main" val="3391778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This Dashboard Matters</a:t>
            </a:r>
          </a:p>
        </p:txBody>
      </p:sp>
      <p:sp>
        <p:nvSpPr>
          <p:cNvPr id="4" name="Slide Number Placeholder 3"/>
          <p:cNvSpPr>
            <a:spLocks noGrp="1"/>
          </p:cNvSpPr>
          <p:nvPr>
            <p:ph type="sldNum" sz="quarter" idx="5"/>
          </p:nvPr>
        </p:nvSpPr>
        <p:spPr/>
        <p:txBody>
          <a:bodyPr/>
          <a:lstStyle/>
          <a:p>
            <a:fld id="{F31CB30C-60EF-4ED8-BE35-3D9B9A4EFA79}" type="slidenum">
              <a:t>7</a:t>
            </a:fld>
            <a:endParaRPr lang="en-US"/>
          </a:p>
        </p:txBody>
      </p:sp>
    </p:spTree>
    <p:extLst>
      <p:ext uri="{BB962C8B-B14F-4D97-AF65-F5344CB8AC3E}">
        <p14:creationId xmlns:p14="http://schemas.microsoft.com/office/powerpoint/2010/main" val="2738170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dashboard you created serves as a centralized hub for data visualization, combining multiple sources into a single, cohesive platform. This consolidation eliminates the need for manual data gathering and reporting, significantly reducing errors and saving time. By presenting key performance indicators (KPIs) and trends in an easily digestible format, the dashboard empowers stakeholders to make faster, data-driven decisions. Actionable insights derived from the dashboard can highlight areas of improvement, identify growth opportunities, and monitor progress toward strategic goals. Additionally, the dashboard enhances operational efficiency by automating reporting processes, which traditionally consume significant resources. This automation not only improves accuracy but also ensures that decision-makers have access to the most current data at all times. Ultimately, the dashboard is a critical tool for aligning business strategies with real-time performance metrics, fostering a culture of transparency and accountability.</a:t>
            </a:r>
          </a:p>
        </p:txBody>
      </p:sp>
      <p:sp>
        <p:nvSpPr>
          <p:cNvPr id="4" name="Slide Number Placeholder 3"/>
          <p:cNvSpPr>
            <a:spLocks noGrp="1"/>
          </p:cNvSpPr>
          <p:nvPr>
            <p:ph type="sldNum" sz="quarter" idx="5"/>
          </p:nvPr>
        </p:nvSpPr>
        <p:spPr/>
        <p:txBody>
          <a:bodyPr/>
          <a:lstStyle/>
          <a:p>
            <a:fld id="{F31CB30C-60EF-4ED8-BE35-3D9B9A4EFA79}" type="slidenum">
              <a:t>8</a:t>
            </a:fld>
            <a:endParaRPr lang="en-US"/>
          </a:p>
        </p:txBody>
      </p:sp>
    </p:spTree>
    <p:extLst>
      <p:ext uri="{BB962C8B-B14F-4D97-AF65-F5344CB8AC3E}">
        <p14:creationId xmlns:p14="http://schemas.microsoft.com/office/powerpoint/2010/main" val="147057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&amp; Compliance</a:t>
            </a:r>
          </a:p>
        </p:txBody>
      </p:sp>
      <p:sp>
        <p:nvSpPr>
          <p:cNvPr id="4" name="Slide Number Placeholder 3"/>
          <p:cNvSpPr>
            <a:spLocks noGrp="1"/>
          </p:cNvSpPr>
          <p:nvPr>
            <p:ph type="sldNum" sz="quarter" idx="5"/>
          </p:nvPr>
        </p:nvSpPr>
        <p:spPr/>
        <p:txBody>
          <a:bodyPr/>
          <a:lstStyle/>
          <a:p>
            <a:fld id="{F31CB30C-60EF-4ED8-BE35-3D9B9A4EFA79}" type="slidenum">
              <a:t>9</a:t>
            </a:fld>
            <a:endParaRPr lang="en-US"/>
          </a:p>
        </p:txBody>
      </p:sp>
    </p:spTree>
    <p:extLst>
      <p:ext uri="{BB962C8B-B14F-4D97-AF65-F5344CB8AC3E}">
        <p14:creationId xmlns:p14="http://schemas.microsoft.com/office/powerpoint/2010/main" val="1534660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Power BI is built on Microsoft Azure's robust security framework, ensuring enterprise-grade protection for sensitive data. It employs role-based access control, which restricts data visibility to authorized users only, thereby minimizing the risk of unauthorized access. Data is encrypted both in transit and at rest, safeguarding information from potential breaches during transmission and storage. Power BI also adheres to global compliance standards, including GDPR, which is essential for organizations operating in regulated industries. These security measures provide confidence that confidential business data remains protected while enabling seamless collaboration. Furthermore, Power BI offers audit logs and monitoring tools, allowing administrators to track user activity and maintain accountability. By leveraging these features, organizations can ensure that their data analytics processes are not only efficient but also secure and compliant with industry regulations.</a:t>
            </a:r>
          </a:p>
        </p:txBody>
      </p:sp>
      <p:sp>
        <p:nvSpPr>
          <p:cNvPr id="4" name="Slide Number Placeholder 3"/>
          <p:cNvSpPr>
            <a:spLocks noGrp="1"/>
          </p:cNvSpPr>
          <p:nvPr>
            <p:ph type="sldNum" sz="quarter" idx="5"/>
          </p:nvPr>
        </p:nvSpPr>
        <p:spPr/>
        <p:txBody>
          <a:bodyPr/>
          <a:lstStyle/>
          <a:p>
            <a:fld id="{F31CB30C-60EF-4ED8-BE35-3D9B9A4EFA79}" type="slidenum">
              <a:t>10</a:t>
            </a:fld>
            <a:endParaRPr lang="en-US"/>
          </a:p>
        </p:txBody>
      </p:sp>
    </p:spTree>
    <p:extLst>
      <p:ext uri="{BB962C8B-B14F-4D97-AF65-F5344CB8AC3E}">
        <p14:creationId xmlns:p14="http://schemas.microsoft.com/office/powerpoint/2010/main" val="2835530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Power BI is Important for Us</a:t>
            </a:r>
          </a:p>
        </p:txBody>
      </p:sp>
      <p:sp>
        <p:nvSpPr>
          <p:cNvPr id="4" name="Slide Number Placeholder 3"/>
          <p:cNvSpPr>
            <a:spLocks noGrp="1"/>
          </p:cNvSpPr>
          <p:nvPr>
            <p:ph type="sldNum" sz="quarter" idx="5"/>
          </p:nvPr>
        </p:nvSpPr>
        <p:spPr/>
        <p:txBody>
          <a:bodyPr/>
          <a:lstStyle/>
          <a:p>
            <a:fld id="{F31CB30C-60EF-4ED8-BE35-3D9B9A4EFA79}" type="slidenum">
              <a:t>11</a:t>
            </a:fld>
            <a:endParaRPr lang="en-US"/>
          </a:p>
        </p:txBody>
      </p:sp>
    </p:spTree>
    <p:extLst>
      <p:ext uri="{BB962C8B-B14F-4D97-AF65-F5344CB8AC3E}">
        <p14:creationId xmlns:p14="http://schemas.microsoft.com/office/powerpoint/2010/main" val="1951569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Power BI offers several strategic advantages that make it an essential tool for modern businesses. Its scalability ensures that organizations can handle large and complex datasets without compromising performance, making it suitable for growing enterprises. Collaboration is another key benefit, as Power BI enables secure sharing of dashboards and reports within organizational boundaries, fostering teamwork and informed decision-making. Additionally, Power BI is cost-effective compared to maintaining multiple reporting tools, reducing overhead and simplifying the analytics ecosystem. The platform also supports advanced features such as AI-driven insights, predictive analytics, and automated alerts, which can further enhance decision-making capabilities. By adopting Power BI, organizations position themselves to leverage data as a strategic asset, driving efficiency, innovation, and competitive advantage in their respective markets.</a:t>
            </a:r>
          </a:p>
        </p:txBody>
      </p:sp>
      <p:sp>
        <p:nvSpPr>
          <p:cNvPr id="4" name="Slide Number Placeholder 3"/>
          <p:cNvSpPr>
            <a:spLocks noGrp="1"/>
          </p:cNvSpPr>
          <p:nvPr>
            <p:ph type="sldNum" sz="quarter" idx="5"/>
          </p:nvPr>
        </p:nvSpPr>
        <p:spPr/>
        <p:txBody>
          <a:bodyPr/>
          <a:lstStyle/>
          <a:p>
            <a:fld id="{F31CB30C-60EF-4ED8-BE35-3D9B9A4EFA79}" type="slidenum">
              <a:t>12</a:t>
            </a:fld>
            <a:endParaRPr lang="en-US"/>
          </a:p>
        </p:txBody>
      </p:sp>
    </p:spTree>
    <p:extLst>
      <p:ext uri="{BB962C8B-B14F-4D97-AF65-F5344CB8AC3E}">
        <p14:creationId xmlns:p14="http://schemas.microsoft.com/office/powerpoint/2010/main" val="3320127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Call to Action, Dashboard Screenshot Placeholder</a:t>
            </a:r>
          </a:p>
        </p:txBody>
      </p:sp>
      <p:sp>
        <p:nvSpPr>
          <p:cNvPr id="4" name="Slide Number Placeholder 3"/>
          <p:cNvSpPr>
            <a:spLocks noGrp="1"/>
          </p:cNvSpPr>
          <p:nvPr>
            <p:ph type="sldNum" sz="quarter" idx="5"/>
          </p:nvPr>
        </p:nvSpPr>
        <p:spPr/>
        <p:txBody>
          <a:bodyPr/>
          <a:lstStyle/>
          <a:p>
            <a:fld id="{F31CB30C-60EF-4ED8-BE35-3D9B9A4EFA79}" type="slidenum">
              <a:t>13</a:t>
            </a:fld>
            <a:endParaRPr lang="en-US"/>
          </a:p>
        </p:txBody>
      </p:sp>
    </p:spTree>
    <p:extLst>
      <p:ext uri="{BB962C8B-B14F-4D97-AF65-F5344CB8AC3E}">
        <p14:creationId xmlns:p14="http://schemas.microsoft.com/office/powerpoint/2010/main" val="1635066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fully capitalize on the benefits of Power BI, it is recommended to approve its continued use and integration into the organization's reporting and analytics framework. This approval will enable teams to streamline data processes, enhance collaboration, and make informed decisions based on real-time insights. Additionally, exploring advanced features such as AI-driven analytics and automated alerts can further optimize business operations and provide a competitive edge. Investing in training and governance will ensure that users can maximize the platform's capabilities while maintaining security and compliance. By taking these steps, the organization can establish a robust, data-driven culture that supports strategic objectives and long-term growth.</a:t>
            </a:r>
          </a:p>
        </p:txBody>
      </p:sp>
      <p:sp>
        <p:nvSpPr>
          <p:cNvPr id="4" name="Slide Number Placeholder 3"/>
          <p:cNvSpPr>
            <a:spLocks noGrp="1"/>
          </p:cNvSpPr>
          <p:nvPr>
            <p:ph type="sldNum" sz="quarter" idx="5"/>
          </p:nvPr>
        </p:nvSpPr>
        <p:spPr/>
        <p:txBody>
          <a:bodyPr/>
          <a:lstStyle/>
          <a:p>
            <a:fld id="{F31CB30C-60EF-4ED8-BE35-3D9B9A4EFA79}" type="slidenum">
              <a:t>14</a:t>
            </a:fld>
            <a:endParaRPr lang="en-US"/>
          </a:p>
        </p:txBody>
      </p:sp>
    </p:spTree>
    <p:extLst>
      <p:ext uri="{BB962C8B-B14F-4D97-AF65-F5344CB8AC3E}">
        <p14:creationId xmlns:p14="http://schemas.microsoft.com/office/powerpoint/2010/main" val="1063119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Insert screenshot from Power BI link here: https://app.powerbi.com/links/f0TfPPPzah?ctid=d703bd9e-2913-4bf9-8dd7-49ce1b18bd11&amp;pbi_source=linkShare&amp;bookmarkGuid=639a9718-7069-4e21-b610-ae6a7414a127. This visual representation will provide stakeholders with a clear understanding of the dashboard's layout, features, and functionality, reinforcing its value and usability.</a:t>
            </a:r>
          </a:p>
        </p:txBody>
      </p:sp>
      <p:sp>
        <p:nvSpPr>
          <p:cNvPr id="4" name="Slide Number Placeholder 3"/>
          <p:cNvSpPr>
            <a:spLocks noGrp="1"/>
          </p:cNvSpPr>
          <p:nvPr>
            <p:ph type="sldNum" sz="quarter" idx="5"/>
          </p:nvPr>
        </p:nvSpPr>
        <p:spPr/>
        <p:txBody>
          <a:bodyPr/>
          <a:lstStyle/>
          <a:p>
            <a:fld id="{F31CB30C-60EF-4ED8-BE35-3D9B9A4EFA79}" type="slidenum">
              <a:t>15</a:t>
            </a:fld>
            <a:endParaRPr lang="en-US"/>
          </a:p>
        </p:txBody>
      </p:sp>
    </p:spTree>
    <p:extLst>
      <p:ext uri="{BB962C8B-B14F-4D97-AF65-F5344CB8AC3E}">
        <p14:creationId xmlns:p14="http://schemas.microsoft.com/office/powerpoint/2010/main" val="57336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762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3123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4521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12/10/2025</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296327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66934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2691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7056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dirty="0"/>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1354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8608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12/10/2025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44332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12/10/2025</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07347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12/10/2025</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40049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72298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553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228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281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14958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45888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13072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9146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672692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194600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23690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75185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9413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37247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411779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94456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09127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437778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585249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3849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63166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684816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877823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2253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558147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488722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998719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2521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1881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9606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3047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7550320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1128135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5073265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3017343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4812359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0888502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12/10/2025</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059961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4475764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dirty="0"/>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dirty="0"/>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12/10/2025</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144558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2209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dirty="0"/>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9271735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12/10/2025</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71703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12/10/2025</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950143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12/10/2025</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615800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12/10/2025</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701330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12/10/2025</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940005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12/10/2025</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472182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371383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12/10/2025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632879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AFC2431-06E6-95C6-DB30-BEDC8319C6CE}"/>
              </a:ext>
            </a:extLst>
          </p:cNvPr>
          <p:cNvSpPr/>
          <p:nvPr userDrawn="1"/>
        </p:nvSpPr>
        <p:spPr>
          <a:xfrm>
            <a:off x="72428" y="5714947"/>
            <a:ext cx="2823172" cy="1143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22B6E377-3728-A1E9-BEF5-419BDED48466}"/>
              </a:ext>
            </a:extLst>
          </p:cNvPr>
          <p:cNvPicPr>
            <a:picLocks noChangeAspect="1"/>
          </p:cNvPicPr>
          <p:nvPr userDrawn="1"/>
        </p:nvPicPr>
        <p:blipFill>
          <a:blip r:embed="rId2">
            <a:alphaModFix amt="70000"/>
            <a:duotone>
              <a:prstClr val="black"/>
              <a:srgbClr val="C00000">
                <a:tint val="45000"/>
                <a:satMod val="400000"/>
              </a:srgbClr>
            </a:duotone>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flipV="1">
            <a:off x="0" y="2571922"/>
            <a:ext cx="12192000" cy="4286078"/>
          </a:xfrm>
          <a:prstGeom prst="rect">
            <a:avLst/>
          </a:prstGeom>
        </p:spPr>
      </p:pic>
      <p:sp>
        <p:nvSpPr>
          <p:cNvPr id="5" name="Footer Placeholder 4">
            <a:extLst>
              <a:ext uri="{FF2B5EF4-FFF2-40B4-BE49-F238E27FC236}">
                <a16:creationId xmlns:a16="http://schemas.microsoft.com/office/drawing/2014/main" id="{E194F8D9-AA60-303C-6073-A7531E93A41B}"/>
              </a:ext>
            </a:extLst>
          </p:cNvPr>
          <p:cNvSpPr>
            <a:spLocks noGrp="1"/>
          </p:cNvSpPr>
          <p:nvPr>
            <p:ph type="ftr" sz="quarter" idx="11"/>
          </p:nvPr>
        </p:nvSpPr>
        <p:spPr/>
        <p:txBody>
          <a:bodyPr/>
          <a:lstStyle>
            <a:lvl1pPr>
              <a:defRPr>
                <a:solidFill>
                  <a:srgbClr val="002060"/>
                </a:solidFill>
              </a:defRPr>
            </a:lvl1pPr>
          </a:lstStyle>
          <a:p>
            <a:r>
              <a:rPr lang="en-US" kern="0">
                <a:latin typeface="Arial" panose="020B0604020202020204" pitchFamily="34" charset="0"/>
                <a:ea typeface="Open Sans"/>
                <a:cs typeface="Arial" panose="020B0604020202020204" pitchFamily="34" charset="0"/>
                <a:sym typeface="Open Sans"/>
              </a:rPr>
              <a:t>We Deliver Impact Capital For National Development</a:t>
            </a:r>
          </a:p>
        </p:txBody>
      </p:sp>
      <p:sp>
        <p:nvSpPr>
          <p:cNvPr id="8" name="Subtitle 2">
            <a:extLst>
              <a:ext uri="{FF2B5EF4-FFF2-40B4-BE49-F238E27FC236}">
                <a16:creationId xmlns:a16="http://schemas.microsoft.com/office/drawing/2014/main" id="{F8EECDCF-D0EC-69FA-5BD5-7D75295E0DAF}"/>
              </a:ext>
            </a:extLst>
          </p:cNvPr>
          <p:cNvSpPr txBox="1">
            <a:spLocks/>
          </p:cNvSpPr>
          <p:nvPr userDrawn="1"/>
        </p:nvSpPr>
        <p:spPr>
          <a:xfrm>
            <a:off x="694469" y="3822520"/>
            <a:ext cx="6956908" cy="958332"/>
          </a:xfrm>
          <a:prstGeom prst="rect">
            <a:avLst/>
          </a:prstGeom>
        </p:spPr>
        <p:txBody>
          <a:bodyPr vert="horz" lIns="0" tIns="45720" rIns="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68B3"/>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a:solidFill>
                <a:srgbClr val="002060"/>
              </a:solidFill>
            </a:endParaRPr>
          </a:p>
        </p:txBody>
      </p:sp>
      <p:sp>
        <p:nvSpPr>
          <p:cNvPr id="10" name="Title 1">
            <a:extLst>
              <a:ext uri="{FF2B5EF4-FFF2-40B4-BE49-F238E27FC236}">
                <a16:creationId xmlns:a16="http://schemas.microsoft.com/office/drawing/2014/main" id="{2EF6A5B5-6B37-5022-2C64-0EFF3742E749}"/>
              </a:ext>
            </a:extLst>
          </p:cNvPr>
          <p:cNvSpPr txBox="1">
            <a:spLocks/>
          </p:cNvSpPr>
          <p:nvPr userDrawn="1"/>
        </p:nvSpPr>
        <p:spPr>
          <a:xfrm>
            <a:off x="694469" y="1493937"/>
            <a:ext cx="6956907" cy="2208930"/>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5000" kern="1200">
                <a:solidFill>
                  <a:srgbClr val="0068B3"/>
                </a:solidFill>
                <a:latin typeface="Arial" panose="020B0604020202020204" pitchFamily="34" charset="0"/>
                <a:ea typeface="+mj-ea"/>
                <a:cs typeface="Arial" panose="020B0604020202020204" pitchFamily="34" charset="0"/>
              </a:defRPr>
            </a:lvl1pPr>
          </a:lstStyle>
          <a:p>
            <a:endParaRPr lang="en-GB">
              <a:solidFill>
                <a:srgbClr val="002060"/>
              </a:solidFill>
            </a:endParaRPr>
          </a:p>
        </p:txBody>
      </p:sp>
      <p:sp>
        <p:nvSpPr>
          <p:cNvPr id="18" name="Text Placeholder 17">
            <a:extLst>
              <a:ext uri="{FF2B5EF4-FFF2-40B4-BE49-F238E27FC236}">
                <a16:creationId xmlns:a16="http://schemas.microsoft.com/office/drawing/2014/main" id="{FB92DA27-0E0E-7496-5DF4-CCE6C406AB57}"/>
              </a:ext>
            </a:extLst>
          </p:cNvPr>
          <p:cNvSpPr>
            <a:spLocks noGrp="1"/>
          </p:cNvSpPr>
          <p:nvPr>
            <p:ph type="body" sz="quarter" idx="14" hasCustomPrompt="1"/>
          </p:nvPr>
        </p:nvSpPr>
        <p:spPr>
          <a:xfrm>
            <a:off x="1068309" y="1882461"/>
            <a:ext cx="7614977" cy="1482538"/>
          </a:xfrm>
        </p:spPr>
        <p:txBody>
          <a:bodyPr>
            <a:noAutofit/>
          </a:bodyPr>
          <a:lstStyle>
            <a:lvl1pPr marL="0" indent="0">
              <a:buNone/>
              <a:defRPr sz="4500" b="1">
                <a:solidFill>
                  <a:srgbClr val="1F356B"/>
                </a:solidFill>
              </a:defRPr>
            </a:lvl1pPr>
          </a:lstStyle>
          <a:p>
            <a:pPr lvl="0"/>
            <a:r>
              <a:rPr lang="en-US"/>
              <a:t>Title</a:t>
            </a:r>
          </a:p>
        </p:txBody>
      </p:sp>
      <p:sp>
        <p:nvSpPr>
          <p:cNvPr id="19" name="Text Placeholder 17">
            <a:extLst>
              <a:ext uri="{FF2B5EF4-FFF2-40B4-BE49-F238E27FC236}">
                <a16:creationId xmlns:a16="http://schemas.microsoft.com/office/drawing/2014/main" id="{BBEE5128-8C7D-D8FD-97A9-96BBE2ACFD97}"/>
              </a:ext>
            </a:extLst>
          </p:cNvPr>
          <p:cNvSpPr>
            <a:spLocks noGrp="1"/>
          </p:cNvSpPr>
          <p:nvPr>
            <p:ph type="body" sz="quarter" idx="15" hasCustomPrompt="1"/>
          </p:nvPr>
        </p:nvSpPr>
        <p:spPr>
          <a:xfrm>
            <a:off x="1068308" y="3484652"/>
            <a:ext cx="7614977" cy="628104"/>
          </a:xfrm>
        </p:spPr>
        <p:txBody>
          <a:bodyPr>
            <a:noAutofit/>
          </a:bodyPr>
          <a:lstStyle>
            <a:lvl1pPr marL="0" indent="0">
              <a:buNone/>
              <a:defRPr sz="3000">
                <a:solidFill>
                  <a:srgbClr val="1F356B"/>
                </a:solidFill>
              </a:defRPr>
            </a:lvl1pPr>
          </a:lstStyle>
          <a:p>
            <a:pPr lvl="0"/>
            <a:r>
              <a:rPr lang="en-US"/>
              <a:t>Sub-header</a:t>
            </a:r>
          </a:p>
        </p:txBody>
      </p:sp>
      <p:sp>
        <p:nvSpPr>
          <p:cNvPr id="20" name="Text Placeholder 17">
            <a:extLst>
              <a:ext uri="{FF2B5EF4-FFF2-40B4-BE49-F238E27FC236}">
                <a16:creationId xmlns:a16="http://schemas.microsoft.com/office/drawing/2014/main" id="{C59D8FD3-23C7-BF68-FD60-A7BD90A684CF}"/>
              </a:ext>
            </a:extLst>
          </p:cNvPr>
          <p:cNvSpPr>
            <a:spLocks noGrp="1"/>
          </p:cNvSpPr>
          <p:nvPr>
            <p:ph type="body" sz="quarter" idx="16" hasCustomPrompt="1"/>
          </p:nvPr>
        </p:nvSpPr>
        <p:spPr>
          <a:xfrm>
            <a:off x="1068308" y="4219224"/>
            <a:ext cx="7614977" cy="628104"/>
          </a:xfrm>
        </p:spPr>
        <p:txBody>
          <a:bodyPr>
            <a:noAutofit/>
          </a:bodyPr>
          <a:lstStyle>
            <a:lvl1pPr marL="0" indent="0">
              <a:buNone/>
              <a:defRPr sz="2200">
                <a:solidFill>
                  <a:srgbClr val="1F356B"/>
                </a:solidFill>
              </a:defRPr>
            </a:lvl1pPr>
          </a:lstStyle>
          <a:p>
            <a:pPr lvl="0"/>
            <a:r>
              <a:rPr lang="en-US"/>
              <a:t>Date</a:t>
            </a:r>
          </a:p>
        </p:txBody>
      </p:sp>
      <p:pic>
        <p:nvPicPr>
          <p:cNvPr id="4" name="Picture 3">
            <a:extLst>
              <a:ext uri="{FF2B5EF4-FFF2-40B4-BE49-F238E27FC236}">
                <a16:creationId xmlns:a16="http://schemas.microsoft.com/office/drawing/2014/main" id="{FFED32E0-D1B5-5356-E307-EA8D6FFBB68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765742" y="-292660"/>
            <a:ext cx="3731058" cy="2094730"/>
          </a:xfrm>
          <a:prstGeom prst="rect">
            <a:avLst/>
          </a:prstGeom>
        </p:spPr>
      </p:pic>
    </p:spTree>
    <p:extLst>
      <p:ext uri="{BB962C8B-B14F-4D97-AF65-F5344CB8AC3E}">
        <p14:creationId xmlns:p14="http://schemas.microsoft.com/office/powerpoint/2010/main" val="1446451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6E11FC-3D05-6B3F-5DFE-E4C363686711}"/>
              </a:ext>
            </a:extLst>
          </p:cNvPr>
          <p:cNvSpPr/>
          <p:nvPr userDrawn="1"/>
        </p:nvSpPr>
        <p:spPr>
          <a:xfrm>
            <a:off x="199176" y="5726243"/>
            <a:ext cx="3661624" cy="1131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11">
            <a:extLst>
              <a:ext uri="{FF2B5EF4-FFF2-40B4-BE49-F238E27FC236}">
                <a16:creationId xmlns:a16="http://schemas.microsoft.com/office/drawing/2014/main" id="{DADA5FA9-349D-91B9-3DE3-3AD0E80253A5}"/>
              </a:ext>
            </a:extLst>
          </p:cNvPr>
          <p:cNvSpPr>
            <a:spLocks noGrp="1"/>
          </p:cNvSpPr>
          <p:nvPr>
            <p:ph type="body" sz="quarter" idx="12" hasCustomPrompt="1"/>
          </p:nvPr>
        </p:nvSpPr>
        <p:spPr>
          <a:xfrm>
            <a:off x="8460720" y="5726243"/>
            <a:ext cx="3448077" cy="896585"/>
          </a:xfrm>
        </p:spPr>
        <p:txBody>
          <a:bodyPr>
            <a:normAutofit/>
          </a:bodyPr>
          <a:lstStyle>
            <a:lvl1pPr marL="0" indent="0">
              <a:lnSpc>
                <a:spcPct val="100000"/>
              </a:lnSpc>
              <a:spcBef>
                <a:spcPts val="0"/>
              </a:spcBef>
              <a:buNone/>
              <a:defRPr sz="1400"/>
            </a:lvl1pPr>
          </a:lstStyle>
          <a:p>
            <a:pPr lvl="0"/>
            <a:r>
              <a:rPr lang="en-US"/>
              <a:t>Click to add personal contact details:</a:t>
            </a:r>
            <a:br>
              <a:rPr lang="en-US"/>
            </a:br>
            <a:r>
              <a:rPr lang="en-US"/>
              <a:t>Name, Designation</a:t>
            </a:r>
            <a:br>
              <a:rPr lang="en-US"/>
            </a:br>
            <a:r>
              <a:rPr lang="en-US"/>
              <a:t>Contact Number</a:t>
            </a:r>
          </a:p>
        </p:txBody>
      </p:sp>
      <p:pic>
        <p:nvPicPr>
          <p:cNvPr id="4" name="Picture 3">
            <a:extLst>
              <a:ext uri="{FF2B5EF4-FFF2-40B4-BE49-F238E27FC236}">
                <a16:creationId xmlns:a16="http://schemas.microsoft.com/office/drawing/2014/main" id="{D2ADD0BB-BA9A-4572-1CD7-6CB067D385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882880" y="1625055"/>
            <a:ext cx="6426240" cy="3607889"/>
          </a:xfrm>
          <a:prstGeom prst="rect">
            <a:avLst/>
          </a:prstGeom>
        </p:spPr>
      </p:pic>
    </p:spTree>
    <p:extLst>
      <p:ext uri="{BB962C8B-B14F-4D97-AF65-F5344CB8AC3E}">
        <p14:creationId xmlns:p14="http://schemas.microsoft.com/office/powerpoint/2010/main" val="35475435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F4A-0783-B371-94AA-488E6F33765A}"/>
              </a:ext>
            </a:extLst>
          </p:cNvPr>
          <p:cNvSpPr>
            <a:spLocks noGrp="1"/>
          </p:cNvSpPr>
          <p:nvPr>
            <p:ph type="title"/>
          </p:nvPr>
        </p:nvSpPr>
        <p:spPr>
          <a:xfrm>
            <a:off x="838200" y="238125"/>
            <a:ext cx="10515600" cy="612649"/>
          </a:xfrm>
        </p:spPr>
        <p:txBody>
          <a:bodyPr/>
          <a:lstStyle>
            <a:lvl1pPr>
              <a:defRPr>
                <a:solidFill>
                  <a:schemeClr val="tx1">
                    <a:lumMod val="85000"/>
                    <a:lumOff val="15000"/>
                  </a:schemeClr>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EF147EC-4401-7207-7355-4AF0597707AE}"/>
              </a:ext>
            </a:extLst>
          </p:cNvPr>
          <p:cNvSpPr>
            <a:spLocks noGrp="1"/>
          </p:cNvSpPr>
          <p:nvPr>
            <p:ph idx="1"/>
          </p:nvPr>
        </p:nvSpPr>
        <p:spPr>
          <a:xfrm>
            <a:off x="838200" y="1276350"/>
            <a:ext cx="10515600" cy="4900612"/>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79C592A-5788-1C1B-B052-6F33A47EC7E5}"/>
              </a:ext>
            </a:extLst>
          </p:cNvPr>
          <p:cNvSpPr>
            <a:spLocks noGrp="1"/>
          </p:cNvSpPr>
          <p:nvPr>
            <p:ph type="sldNum" sz="quarter" idx="12"/>
          </p:nvPr>
        </p:nvSpPr>
        <p:spPr>
          <a:xfrm>
            <a:off x="8610600" y="6365858"/>
            <a:ext cx="2743200" cy="365125"/>
          </a:xfrm>
        </p:spPr>
        <p:txBody>
          <a:bodyPr/>
          <a:lstStyle>
            <a:lvl1pPr algn="r">
              <a:defRPr/>
            </a:lvl1pPr>
          </a:lstStyle>
          <a:p>
            <a:fld id="{FDB03F6D-99AB-4E4D-AF85-B08CB022F759}" type="slidenum">
              <a:rPr lang="en-GB" smtClean="0"/>
              <a:pPr/>
              <a:t>‹#›</a:t>
            </a:fld>
            <a:endParaRPr lang="en-GB"/>
          </a:p>
        </p:txBody>
      </p:sp>
      <p:sp>
        <p:nvSpPr>
          <p:cNvPr id="11" name="Rectangle 10">
            <a:extLst>
              <a:ext uri="{FF2B5EF4-FFF2-40B4-BE49-F238E27FC236}">
                <a16:creationId xmlns:a16="http://schemas.microsoft.com/office/drawing/2014/main" id="{E422AA4F-70FD-9BB3-AB12-8817A6C64EAF}"/>
              </a:ext>
            </a:extLst>
          </p:cNvPr>
          <p:cNvSpPr/>
          <p:nvPr userDrawn="1"/>
        </p:nvSpPr>
        <p:spPr>
          <a:xfrm>
            <a:off x="0" y="964570"/>
            <a:ext cx="5861050" cy="514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aseline="-25000"/>
          </a:p>
        </p:txBody>
      </p:sp>
      <p:sp>
        <p:nvSpPr>
          <p:cNvPr id="12" name="TextBox 11">
            <a:extLst>
              <a:ext uri="{FF2B5EF4-FFF2-40B4-BE49-F238E27FC236}">
                <a16:creationId xmlns:a16="http://schemas.microsoft.com/office/drawing/2014/main" id="{BF7CD41B-F45F-3E8B-EB09-EFC826E94F51}"/>
              </a:ext>
            </a:extLst>
          </p:cNvPr>
          <p:cNvSpPr txBox="1"/>
          <p:nvPr userDrawn="1"/>
        </p:nvSpPr>
        <p:spPr>
          <a:xfrm>
            <a:off x="2691986" y="6409920"/>
            <a:ext cx="433215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lumMod val="75000"/>
                    <a:lumOff val="25000"/>
                  </a:schemeClr>
                </a:solidFill>
                <a:latin typeface="Arial" panose="020B0604020202020204" pitchFamily="34" charset="0"/>
                <a:cs typeface="Arial" panose="020B0604020202020204" pitchFamily="34" charset="0"/>
              </a:rPr>
              <a:t>We Deliver Impact Capital For National Development</a:t>
            </a:r>
            <a:endParaRPr lang="en-GB" sz="120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84538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12/10/2025</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376992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AF829D-D4EA-3CB4-6F56-6A7D3157BCDF}"/>
              </a:ext>
            </a:extLst>
          </p:cNvPr>
          <p:cNvSpPr>
            <a:spLocks noGrp="1"/>
          </p:cNvSpPr>
          <p:nvPr>
            <p:ph type="body" sz="quarter" idx="14"/>
          </p:nvPr>
        </p:nvSpPr>
        <p:spPr>
          <a:xfrm>
            <a:off x="1068309" y="1882461"/>
            <a:ext cx="8075691" cy="1165539"/>
          </a:xfrm>
        </p:spPr>
        <p:txBody>
          <a:bodyPr vert="horz" lIns="91440" tIns="45720" rIns="91440" bIns="45720" rtlCol="0" anchor="t">
            <a:noAutofit/>
          </a:bodyPr>
          <a:lstStyle/>
          <a:p>
            <a:r>
              <a:rPr lang="en-GB" dirty="0"/>
              <a:t>OPERATIONS DIVISION DASHBOARD</a:t>
            </a:r>
          </a:p>
        </p:txBody>
      </p:sp>
      <p:sp>
        <p:nvSpPr>
          <p:cNvPr id="3" name="Text Placeholder 2">
            <a:extLst>
              <a:ext uri="{FF2B5EF4-FFF2-40B4-BE49-F238E27FC236}">
                <a16:creationId xmlns:a16="http://schemas.microsoft.com/office/drawing/2014/main" id="{262FDE36-7276-94E1-CB6B-B688434F1288}"/>
              </a:ext>
            </a:extLst>
          </p:cNvPr>
          <p:cNvSpPr>
            <a:spLocks noGrp="1"/>
          </p:cNvSpPr>
          <p:nvPr>
            <p:ph type="body" sz="quarter" idx="15"/>
          </p:nvPr>
        </p:nvSpPr>
        <p:spPr>
          <a:xfrm>
            <a:off x="1083056" y="3276600"/>
            <a:ext cx="8075691" cy="628104"/>
          </a:xfrm>
        </p:spPr>
        <p:txBody>
          <a:bodyPr/>
          <a:lstStyle/>
          <a:p>
            <a:r>
              <a:rPr lang="en-GB" dirty="0"/>
              <a:t>Visualising Data Analytics with Strong Security Measure</a:t>
            </a:r>
          </a:p>
        </p:txBody>
      </p:sp>
      <p:sp>
        <p:nvSpPr>
          <p:cNvPr id="4" name="Text Placeholder 3">
            <a:extLst>
              <a:ext uri="{FF2B5EF4-FFF2-40B4-BE49-F238E27FC236}">
                <a16:creationId xmlns:a16="http://schemas.microsoft.com/office/drawing/2014/main" id="{97C55FE7-3824-A64E-DD24-75AF8C9B229E}"/>
              </a:ext>
            </a:extLst>
          </p:cNvPr>
          <p:cNvSpPr>
            <a:spLocks noGrp="1"/>
          </p:cNvSpPr>
          <p:nvPr>
            <p:ph type="body" sz="quarter" idx="16"/>
          </p:nvPr>
        </p:nvSpPr>
        <p:spPr/>
        <p:txBody>
          <a:bodyPr/>
          <a:lstStyle/>
          <a:p>
            <a:r>
              <a:rPr lang="en-GB" dirty="0"/>
              <a:t>11</a:t>
            </a:r>
            <a:r>
              <a:rPr lang="en-GB" baseline="30000" dirty="0"/>
              <a:t>th</a:t>
            </a:r>
            <a:r>
              <a:rPr lang="en-GB" dirty="0"/>
              <a:t> December 2025</a:t>
            </a:r>
          </a:p>
        </p:txBody>
      </p:sp>
    </p:spTree>
    <p:extLst>
      <p:ext uri="{BB962C8B-B14F-4D97-AF65-F5344CB8AC3E}">
        <p14:creationId xmlns:p14="http://schemas.microsoft.com/office/powerpoint/2010/main" val="3806466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F4D63-9159-926C-7E9D-D38AACBCE70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6B1109-358C-E3A2-2632-2F416005084E}"/>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5B8B1D99-089D-D27E-BA82-FFA8AD598596}"/>
              </a:ext>
            </a:extLst>
          </p:cNvPr>
          <p:cNvSpPr>
            <a:spLocks noGrp="1"/>
          </p:cNvSpPr>
          <p:nvPr>
            <p:ph type="sldNum" sz="quarter" idx="12"/>
          </p:nvPr>
        </p:nvSpPr>
        <p:spPr/>
        <p:txBody>
          <a:bodyPr/>
          <a:lstStyle/>
          <a:p>
            <a:fld id="{FDB03F6D-99AB-4E4D-AF85-B08CB022F759}" type="slidenum">
              <a:rPr lang="en-GB" smtClean="0"/>
              <a:pPr/>
              <a:t>2</a:t>
            </a:fld>
            <a:endParaRPr lang="en-GB"/>
          </a:p>
        </p:txBody>
      </p:sp>
    </p:spTree>
    <p:extLst>
      <p:ext uri="{BB962C8B-B14F-4D97-AF65-F5344CB8AC3E}">
        <p14:creationId xmlns:p14="http://schemas.microsoft.com/office/powerpoint/2010/main" val="851196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5BDB43-DBE8-E80C-3B53-8E6629E62468}"/>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720631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AE1F7-2495-D0BE-9FD5-BD020F8A6A79}"/>
              </a:ext>
            </a:extLst>
          </p:cNvPr>
          <p:cNvSpPr>
            <a:spLocks noGrp="1"/>
          </p:cNvSpPr>
          <p:nvPr>
            <p:ph type="ctrTitle"/>
          </p:nvPr>
        </p:nvSpPr>
        <p:spPr>
          <a:xfrm>
            <a:off x="137159" y="338328"/>
            <a:ext cx="8168640" cy="4462272"/>
          </a:xfrm>
        </p:spPr>
        <p:txBody>
          <a:bodyPr anchor="t">
            <a:normAutofit/>
          </a:bodyPr>
          <a:lstStyle/>
          <a:p>
            <a:r>
              <a:rPr lang="en-US" sz="8200"/>
              <a:t>Power BI Dashboard: Driving Insights Securely</a:t>
            </a:r>
          </a:p>
        </p:txBody>
      </p:sp>
      <p:sp>
        <p:nvSpPr>
          <p:cNvPr id="3" name="Subtitle 2">
            <a:extLst>
              <a:ext uri="{FF2B5EF4-FFF2-40B4-BE49-F238E27FC236}">
                <a16:creationId xmlns:a16="http://schemas.microsoft.com/office/drawing/2014/main" id="{3A355B64-7111-FD76-0738-78D96A500DAE}"/>
              </a:ext>
            </a:extLst>
          </p:cNvPr>
          <p:cNvSpPr>
            <a:spLocks noGrp="1"/>
          </p:cNvSpPr>
          <p:nvPr>
            <p:ph type="subTitle" idx="1"/>
          </p:nvPr>
        </p:nvSpPr>
        <p:spPr>
          <a:xfrm>
            <a:off x="8534400" y="4754729"/>
            <a:ext cx="3084441" cy="1080302"/>
          </a:xfrm>
        </p:spPr>
        <p:txBody>
          <a:bodyPr anchor="b">
            <a:normAutofit/>
          </a:bodyPr>
          <a:lstStyle/>
          <a:p>
            <a:r>
              <a:rPr lang="en-US"/>
              <a:t>Visualizing data analytics with strong security measures</a:t>
            </a:r>
          </a:p>
        </p:txBody>
      </p:sp>
      <p:sp>
        <p:nvSpPr>
          <p:cNvPr id="4" name="Footer Placeholder 3">
            <a:extLst>
              <a:ext uri="{FF2B5EF4-FFF2-40B4-BE49-F238E27FC236}">
                <a16:creationId xmlns:a16="http://schemas.microsoft.com/office/drawing/2014/main" id="{27D346F9-836B-024E-C1DC-4DDD0CC0B0C0}"/>
              </a:ext>
            </a:extLst>
          </p:cNvPr>
          <p:cNvSpPr>
            <a:spLocks noGrp="1"/>
          </p:cNvSpPr>
          <p:nvPr>
            <p:ph type="ftr" sz="quarter" idx="11"/>
          </p:nvPr>
        </p:nvSpPr>
        <p:spPr>
          <a:xfrm>
            <a:off x="9144000" y="447579"/>
            <a:ext cx="2477899" cy="586001"/>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724A08B6-9F1F-DA5C-D010-4AF8AE66421B}"/>
              </a:ext>
            </a:extLst>
          </p:cNvPr>
          <p:cNvSpPr>
            <a:spLocks noGrp="1"/>
          </p:cNvSpPr>
          <p:nvPr>
            <p:ph type="dt" sz="half" idx="10"/>
          </p:nvPr>
        </p:nvSpPr>
        <p:spPr>
          <a:xfrm>
            <a:off x="10058400" y="6029868"/>
            <a:ext cx="1182686"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B16CCD92-0E60-5043-AB7A-7BEA278D0C8B}"/>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162877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4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400"/>
                                        <p:tgtEl>
                                          <p:spTgt spid="3">
                                            <p:txEl>
                                              <p:pRg st="0" end="0"/>
                                            </p:txEl>
                                          </p:spTgt>
                                        </p:tgtEl>
                                      </p:cBhvr>
                                    </p:animEffect>
                                  </p:childTnLst>
                                </p:cTn>
                              </p:par>
                              <p:par>
                                <p:cTn id="16" presetID="10"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P spid="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FB4A-0E8E-25C8-3E91-DA11186F37A8}"/>
              </a:ext>
            </a:extLst>
          </p:cNvPr>
          <p:cNvSpPr>
            <a:spLocks noGrp="1"/>
          </p:cNvSpPr>
          <p:nvPr>
            <p:ph type="title"/>
          </p:nvPr>
        </p:nvSpPr>
        <p:spPr>
          <a:xfrm>
            <a:off x="185877" y="1062360"/>
            <a:ext cx="9948723" cy="5762371"/>
          </a:xfrm>
        </p:spPr>
        <p:txBody>
          <a:bodyPr anchor="b">
            <a:normAutofit/>
          </a:bodyPr>
          <a:lstStyle/>
          <a:p>
            <a:r>
              <a:rPr lang="en-US"/>
              <a:t>Introduction to Power BI</a:t>
            </a:r>
          </a:p>
        </p:txBody>
      </p:sp>
      <p:sp>
        <p:nvSpPr>
          <p:cNvPr id="4" name="Footer Placeholder 3">
            <a:extLst>
              <a:ext uri="{FF2B5EF4-FFF2-40B4-BE49-F238E27FC236}">
                <a16:creationId xmlns:a16="http://schemas.microsoft.com/office/drawing/2014/main" id="{552F2A9E-0286-5CA4-5F56-10B8DAF8D39D}"/>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1E54D43B-5337-7815-C05F-43FD56EAF4CA}"/>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DEEAE6B0-38EF-F2B9-A934-A0A59006EA52}"/>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spTree>
    <p:extLst>
      <p:ext uri="{BB962C8B-B14F-4D97-AF65-F5344CB8AC3E}">
        <p14:creationId xmlns:p14="http://schemas.microsoft.com/office/powerpoint/2010/main" val="3802189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gital financial graph">
            <a:extLst>
              <a:ext uri="{FF2B5EF4-FFF2-40B4-BE49-F238E27FC236}">
                <a16:creationId xmlns:a16="http://schemas.microsoft.com/office/drawing/2014/main" id="{62B3FB23-4760-4BEB-B7C7-CAC125B735B4}"/>
              </a:ext>
            </a:extLst>
          </p:cNvPr>
          <p:cNvPicPr>
            <a:picLocks noGrp="1" noChangeAspect="1"/>
          </p:cNvPicPr>
          <p:nvPr>
            <p:ph type="pic" sz="quarter" idx="13"/>
          </p:nvPr>
        </p:nvPicPr>
        <p:blipFill>
          <a:blip r:embed="rId3"/>
          <a:stretch/>
        </p:blipFill>
        <p:spPr>
          <a:xfrm>
            <a:off x="0" y="1061018"/>
            <a:ext cx="4800600" cy="2700338"/>
          </a:xfrm>
          <a:prstGeom prst="rect">
            <a:avLst/>
          </a:prstGeom>
          <a:noFill/>
        </p:spPr>
      </p:pic>
      <p:sp>
        <p:nvSpPr>
          <p:cNvPr id="2" name="Title 1">
            <a:extLst>
              <a:ext uri="{FF2B5EF4-FFF2-40B4-BE49-F238E27FC236}">
                <a16:creationId xmlns:a16="http://schemas.microsoft.com/office/drawing/2014/main" id="{5D986257-678E-26C4-9E83-2B71813FFE31}"/>
              </a:ext>
            </a:extLst>
          </p:cNvPr>
          <p:cNvSpPr>
            <a:spLocks noGrp="1"/>
          </p:cNvSpPr>
          <p:nvPr>
            <p:ph type="title"/>
          </p:nvPr>
        </p:nvSpPr>
        <p:spPr>
          <a:xfrm>
            <a:off x="1002085" y="4374100"/>
            <a:ext cx="3897905" cy="1380814"/>
          </a:xfrm>
        </p:spPr>
        <p:txBody>
          <a:bodyPr anchor="t">
            <a:normAutofit/>
          </a:bodyPr>
          <a:lstStyle/>
          <a:p>
            <a:r>
              <a:rPr lang="en-US"/>
              <a:t>What is Power BI?</a:t>
            </a:r>
          </a:p>
        </p:txBody>
      </p:sp>
      <p:sp>
        <p:nvSpPr>
          <p:cNvPr id="4" name="Content Placeholder 3">
            <a:extLst>
              <a:ext uri="{FF2B5EF4-FFF2-40B4-BE49-F238E27FC236}">
                <a16:creationId xmlns:a16="http://schemas.microsoft.com/office/drawing/2014/main" id="{1E205DF8-2B94-5636-2AAA-52C23CA995D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Transforming Data into Insights</a:t>
            </a:r>
          </a:p>
          <a:p>
            <a:pPr marL="0" lvl="1" indent="0">
              <a:buFont typeface="Arial" panose="020B0604020202020204" pitchFamily="34" charset="0"/>
              <a:buNone/>
            </a:pPr>
            <a:r>
              <a:t>Power BI converts raw data into interactive dashboards and reports for clear business insights.</a:t>
            </a:r>
            <a:endParaRPr lang="en-US"/>
          </a:p>
          <a:p>
            <a:pPr marL="0" indent="0">
              <a:spcBef>
                <a:spcPts val="2500"/>
              </a:spcBef>
              <a:buFont typeface="Arial" panose="020B0604020202020204" pitchFamily="34" charset="0"/>
              <a:buNone/>
            </a:pPr>
            <a:r>
              <a:rPr lang="en-US" b="1"/>
              <a:t>Real-time Analytics</a:t>
            </a:r>
          </a:p>
          <a:p>
            <a:pPr marL="0" lvl="1" indent="0">
              <a:buFont typeface="Arial" panose="020B0604020202020204" pitchFamily="34" charset="0"/>
              <a:buNone/>
            </a:pPr>
            <a:r>
              <a:t>The platform provides real-time analytics, enabling quick and accurate decision-making.</a:t>
            </a:r>
            <a:endParaRPr lang="en-US"/>
          </a:p>
          <a:p>
            <a:pPr marL="0" indent="0">
              <a:spcBef>
                <a:spcPts val="2500"/>
              </a:spcBef>
              <a:buFont typeface="Arial" panose="020B0604020202020204" pitchFamily="34" charset="0"/>
              <a:buNone/>
            </a:pPr>
            <a:r>
              <a:rPr lang="en-US" b="1"/>
              <a:t>Data Integration Flexibility</a:t>
            </a:r>
          </a:p>
          <a:p>
            <a:pPr marL="0" lvl="1" indent="0">
              <a:buFont typeface="Arial" panose="020B0604020202020204" pitchFamily="34" charset="0"/>
              <a:buNone/>
            </a:pPr>
            <a:r>
              <a:t>Power BI integrates with Excel, SQL, and cloud sources, offering scalability and flexibility.</a:t>
            </a:r>
            <a:endParaRPr lang="en-US"/>
          </a:p>
          <a:p>
            <a:pPr marL="0" indent="0">
              <a:spcBef>
                <a:spcPts val="2500"/>
              </a:spcBef>
              <a:buFont typeface="Arial" panose="020B0604020202020204" pitchFamily="34" charset="0"/>
              <a:buNone/>
            </a:pPr>
            <a:r>
              <a:rPr lang="en-US" b="1"/>
              <a:t>Cloud Accessibility and Collaboration</a:t>
            </a:r>
          </a:p>
          <a:p>
            <a:pPr marL="0" lvl="1" indent="0">
              <a:buFont typeface="Arial" panose="020B0604020202020204" pitchFamily="34" charset="0"/>
              <a:buNone/>
            </a:pPr>
            <a:r>
              <a:t>Cloud-based architecture supports access across devices and remote collaboration.</a:t>
            </a:r>
            <a:endParaRPr lang="en-US"/>
          </a:p>
        </p:txBody>
      </p:sp>
      <p:sp>
        <p:nvSpPr>
          <p:cNvPr id="5" name="Footer Placeholder 4">
            <a:extLst>
              <a:ext uri="{FF2B5EF4-FFF2-40B4-BE49-F238E27FC236}">
                <a16:creationId xmlns:a16="http://schemas.microsoft.com/office/drawing/2014/main" id="{8AB9C8F5-29A6-10AF-0685-B892712F077E}"/>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E3116289-800A-A8D1-8D52-8BD3B0CA2D80}"/>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C4A6E6DB-09F7-84E1-60E6-9D88C54D6D8A}"/>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3211788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D661-F38A-9B51-A7A1-2726E84B915F}"/>
              </a:ext>
            </a:extLst>
          </p:cNvPr>
          <p:cNvSpPr>
            <a:spLocks noGrp="1"/>
          </p:cNvSpPr>
          <p:nvPr>
            <p:ph type="title"/>
          </p:nvPr>
        </p:nvSpPr>
        <p:spPr>
          <a:xfrm>
            <a:off x="185877" y="1062360"/>
            <a:ext cx="9948723" cy="5762371"/>
          </a:xfrm>
        </p:spPr>
        <p:txBody>
          <a:bodyPr anchor="b">
            <a:normAutofit/>
          </a:bodyPr>
          <a:lstStyle/>
          <a:p>
            <a:r>
              <a:rPr lang="en-US"/>
              <a:t>Importance of the Dashboard</a:t>
            </a:r>
          </a:p>
        </p:txBody>
      </p:sp>
      <p:sp>
        <p:nvSpPr>
          <p:cNvPr id="4" name="Footer Placeholder 3">
            <a:extLst>
              <a:ext uri="{FF2B5EF4-FFF2-40B4-BE49-F238E27FC236}">
                <a16:creationId xmlns:a16="http://schemas.microsoft.com/office/drawing/2014/main" id="{E2333659-7001-67BF-C42C-C75E56F41297}"/>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30BBE726-9970-8258-6726-F1AD231617CD}"/>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065AB884-07D8-2684-AD95-69351853968F}"/>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7</a:t>
            </a:fld>
            <a:endParaRPr lang="en-US"/>
          </a:p>
        </p:txBody>
      </p:sp>
    </p:spTree>
    <p:extLst>
      <p:ext uri="{BB962C8B-B14F-4D97-AF65-F5344CB8AC3E}">
        <p14:creationId xmlns:p14="http://schemas.microsoft.com/office/powerpoint/2010/main" val="311844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redit score report">
            <a:extLst>
              <a:ext uri="{FF2B5EF4-FFF2-40B4-BE49-F238E27FC236}">
                <a16:creationId xmlns:a16="http://schemas.microsoft.com/office/drawing/2014/main" id="{C69E4967-F06C-4BFB-B2B6-0D4B9F2C8582}"/>
              </a:ext>
            </a:extLst>
          </p:cNvPr>
          <p:cNvPicPr>
            <a:picLocks noGrp="1" noChangeAspect="1"/>
          </p:cNvPicPr>
          <p:nvPr>
            <p:ph type="pic" sz="quarter" idx="13"/>
          </p:nvPr>
        </p:nvPicPr>
        <p:blipFill>
          <a:blip r:embed="rId3"/>
          <a:stretch/>
        </p:blipFill>
        <p:spPr>
          <a:xfrm>
            <a:off x="0" y="610962"/>
            <a:ext cx="4800600" cy="3600450"/>
          </a:xfrm>
          <a:prstGeom prst="rect">
            <a:avLst/>
          </a:prstGeom>
          <a:noFill/>
        </p:spPr>
      </p:pic>
      <p:sp>
        <p:nvSpPr>
          <p:cNvPr id="2" name="Title 1">
            <a:extLst>
              <a:ext uri="{FF2B5EF4-FFF2-40B4-BE49-F238E27FC236}">
                <a16:creationId xmlns:a16="http://schemas.microsoft.com/office/drawing/2014/main" id="{11FE9364-215A-EDDA-1799-9FA9BCE3EFD3}"/>
              </a:ext>
            </a:extLst>
          </p:cNvPr>
          <p:cNvSpPr>
            <a:spLocks noGrp="1"/>
          </p:cNvSpPr>
          <p:nvPr>
            <p:ph type="title"/>
          </p:nvPr>
        </p:nvSpPr>
        <p:spPr>
          <a:xfrm>
            <a:off x="1002085" y="4374100"/>
            <a:ext cx="3897905" cy="1380814"/>
          </a:xfrm>
        </p:spPr>
        <p:txBody>
          <a:bodyPr anchor="t">
            <a:normAutofit/>
          </a:bodyPr>
          <a:lstStyle/>
          <a:p>
            <a:r>
              <a:rPr lang="en-US"/>
              <a:t>Why This Dashboard Matters</a:t>
            </a:r>
          </a:p>
        </p:txBody>
      </p:sp>
      <p:sp>
        <p:nvSpPr>
          <p:cNvPr id="4" name="Content Placeholder 3">
            <a:extLst>
              <a:ext uri="{FF2B5EF4-FFF2-40B4-BE49-F238E27FC236}">
                <a16:creationId xmlns:a16="http://schemas.microsoft.com/office/drawing/2014/main" id="{8EE48056-E7B5-6C5E-CB66-862A586959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Centralized Data Visualization</a:t>
            </a:r>
          </a:p>
          <a:p>
            <a:pPr marL="0" lvl="1" indent="0">
              <a:buFont typeface="Arial" panose="020B0604020202020204" pitchFamily="34" charset="0"/>
              <a:buNone/>
            </a:pPr>
            <a:r>
              <a:t>The dashboard consolidates multiple data sources into one platform, reducing manual effort and errors.</a:t>
            </a:r>
            <a:endParaRPr lang="en-US"/>
          </a:p>
          <a:p>
            <a:pPr marL="0" indent="0">
              <a:spcBef>
                <a:spcPts val="2500"/>
              </a:spcBef>
              <a:buFont typeface="Arial" panose="020B0604020202020204" pitchFamily="34" charset="0"/>
              <a:buNone/>
            </a:pPr>
            <a:r>
              <a:rPr lang="en-US" b="1"/>
              <a:t>Faster Data-Driven Decisions</a:t>
            </a:r>
          </a:p>
          <a:p>
            <a:pPr marL="0" lvl="1" indent="0">
              <a:buFont typeface="Arial" panose="020B0604020202020204" pitchFamily="34" charset="0"/>
              <a:buNone/>
            </a:pPr>
            <a:r>
              <a:t>Clear presentation of KPIs and trends empowers stakeholders to make quicker, informed decisions.</a:t>
            </a:r>
            <a:endParaRPr lang="en-US"/>
          </a:p>
          <a:p>
            <a:pPr marL="0" indent="0">
              <a:spcBef>
                <a:spcPts val="2500"/>
              </a:spcBef>
              <a:buFont typeface="Arial" panose="020B0604020202020204" pitchFamily="34" charset="0"/>
              <a:buNone/>
            </a:pPr>
            <a:r>
              <a:rPr lang="en-US" b="1"/>
              <a:t>Operational Efficiency and Automation</a:t>
            </a:r>
          </a:p>
          <a:p>
            <a:pPr marL="0" lvl="1" indent="0">
              <a:buFont typeface="Arial" panose="020B0604020202020204" pitchFamily="34" charset="0"/>
              <a:buNone/>
            </a:pPr>
            <a:r>
              <a:t>Automating reporting saves resources and ensures decision-makers access current, accurate data.</a:t>
            </a:r>
            <a:endParaRPr lang="en-US"/>
          </a:p>
          <a:p>
            <a:pPr marL="0" indent="0">
              <a:spcBef>
                <a:spcPts val="2500"/>
              </a:spcBef>
              <a:buFont typeface="Arial" panose="020B0604020202020204" pitchFamily="34" charset="0"/>
              <a:buNone/>
            </a:pPr>
            <a:r>
              <a:rPr lang="en-US" b="1"/>
              <a:t>Strategic Alignment and Accountability</a:t>
            </a:r>
          </a:p>
          <a:p>
            <a:pPr marL="0" lvl="1" indent="0">
              <a:buFont typeface="Arial" panose="020B0604020202020204" pitchFamily="34" charset="0"/>
              <a:buNone/>
            </a:pPr>
            <a:r>
              <a:t>The dashboard helps align business strategies with real-time metrics, promoting transparency and accountability.</a:t>
            </a:r>
            <a:endParaRPr lang="en-US"/>
          </a:p>
        </p:txBody>
      </p:sp>
      <p:sp>
        <p:nvSpPr>
          <p:cNvPr id="5" name="Footer Placeholder 4">
            <a:extLst>
              <a:ext uri="{FF2B5EF4-FFF2-40B4-BE49-F238E27FC236}">
                <a16:creationId xmlns:a16="http://schemas.microsoft.com/office/drawing/2014/main" id="{F9BCCF03-C9DF-A5C1-6552-14119859203C}"/>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0976D7A9-AF79-D0D5-A2AB-5762D104FBC7}"/>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4BE0BFD4-C0FB-9167-4C29-0580B87A50A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spTree>
    <p:extLst>
      <p:ext uri="{BB962C8B-B14F-4D97-AF65-F5344CB8AC3E}">
        <p14:creationId xmlns:p14="http://schemas.microsoft.com/office/powerpoint/2010/main" val="1642471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478C-EE15-BE7B-FE98-1122FAD805E5}"/>
              </a:ext>
            </a:extLst>
          </p:cNvPr>
          <p:cNvSpPr>
            <a:spLocks noGrp="1"/>
          </p:cNvSpPr>
          <p:nvPr>
            <p:ph type="title"/>
          </p:nvPr>
        </p:nvSpPr>
        <p:spPr>
          <a:xfrm>
            <a:off x="185877" y="1062360"/>
            <a:ext cx="9948723" cy="5762371"/>
          </a:xfrm>
        </p:spPr>
        <p:txBody>
          <a:bodyPr anchor="b">
            <a:normAutofit/>
          </a:bodyPr>
          <a:lstStyle/>
          <a:p>
            <a:r>
              <a:rPr lang="en-US"/>
              <a:t>Security and Compliance</a:t>
            </a:r>
          </a:p>
        </p:txBody>
      </p:sp>
      <p:sp>
        <p:nvSpPr>
          <p:cNvPr id="4" name="Footer Placeholder 3">
            <a:extLst>
              <a:ext uri="{FF2B5EF4-FFF2-40B4-BE49-F238E27FC236}">
                <a16:creationId xmlns:a16="http://schemas.microsoft.com/office/drawing/2014/main" id="{41815058-B050-0ADF-6FB6-4EB9ADED91C2}"/>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32CB37DA-22F8-C33D-B679-8A45BF68BB45}"/>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4E713300-F05F-4997-DE7D-6C0FFDC372B7}"/>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9</a:t>
            </a:fld>
            <a:endParaRPr lang="en-US"/>
          </a:p>
        </p:txBody>
      </p:sp>
    </p:spTree>
    <p:extLst>
      <p:ext uri="{BB962C8B-B14F-4D97-AF65-F5344CB8AC3E}">
        <p14:creationId xmlns:p14="http://schemas.microsoft.com/office/powerpoint/2010/main" val="897661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visual touch screen with web icons">
            <a:extLst>
              <a:ext uri="{FF2B5EF4-FFF2-40B4-BE49-F238E27FC236}">
                <a16:creationId xmlns:a16="http://schemas.microsoft.com/office/drawing/2014/main" id="{469A8A87-2440-40FD-9D54-43F68F1A2285}"/>
              </a:ext>
            </a:extLst>
          </p:cNvPr>
          <p:cNvPicPr>
            <a:picLocks noGrp="1" noChangeAspect="1"/>
          </p:cNvPicPr>
          <p:nvPr>
            <p:ph type="pic" sz="quarter" idx="13"/>
          </p:nvPr>
        </p:nvPicPr>
        <p:blipFill>
          <a:blip r:embed="rId3"/>
          <a:srcRect l="12379" r="21171"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06878035-D9C5-CC93-628E-6D51C654F168}"/>
              </a:ext>
            </a:extLst>
          </p:cNvPr>
          <p:cNvSpPr>
            <a:spLocks noGrp="1"/>
          </p:cNvSpPr>
          <p:nvPr>
            <p:ph type="title"/>
          </p:nvPr>
        </p:nvSpPr>
        <p:spPr>
          <a:xfrm>
            <a:off x="1002085" y="4374100"/>
            <a:ext cx="3897905" cy="1380814"/>
          </a:xfrm>
        </p:spPr>
        <p:txBody>
          <a:bodyPr anchor="t">
            <a:normAutofit/>
          </a:bodyPr>
          <a:lstStyle/>
          <a:p>
            <a:r>
              <a:rPr lang="en-US"/>
              <a:t>Security &amp; Compliance</a:t>
            </a:r>
          </a:p>
        </p:txBody>
      </p:sp>
      <p:sp>
        <p:nvSpPr>
          <p:cNvPr id="4" name="Content Placeholder 3">
            <a:extLst>
              <a:ext uri="{FF2B5EF4-FFF2-40B4-BE49-F238E27FC236}">
                <a16:creationId xmlns:a16="http://schemas.microsoft.com/office/drawing/2014/main" id="{31BEAAA0-5F68-B3C9-8C0C-6FA11169B3F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Robust Security Framework</a:t>
            </a:r>
          </a:p>
          <a:p>
            <a:pPr marL="0" lvl="1" indent="0">
              <a:buFont typeface="Arial" panose="020B0604020202020204" pitchFamily="34" charset="0"/>
              <a:buNone/>
            </a:pPr>
            <a:r>
              <a:t>Power BI uses Microsoft Azure’s security framework to protect sensitive data with enterprise-grade measures.</a:t>
            </a:r>
            <a:endParaRPr lang="en-US"/>
          </a:p>
          <a:p>
            <a:pPr marL="0" indent="0">
              <a:spcBef>
                <a:spcPts val="2500"/>
              </a:spcBef>
              <a:buFont typeface="Arial" panose="020B0604020202020204" pitchFamily="34" charset="0"/>
              <a:buNone/>
            </a:pPr>
            <a:r>
              <a:rPr lang="en-US" b="1"/>
              <a:t>Role-Based Access Control</a:t>
            </a:r>
          </a:p>
          <a:p>
            <a:pPr marL="0" lvl="1" indent="0">
              <a:buFont typeface="Arial" panose="020B0604020202020204" pitchFamily="34" charset="0"/>
              <a:buNone/>
            </a:pPr>
            <a:r>
              <a:t>Access to data is restricted to authorized users through role-based control, minimizing unauthorized access risks.</a:t>
            </a:r>
            <a:endParaRPr lang="en-US"/>
          </a:p>
          <a:p>
            <a:pPr marL="0" indent="0">
              <a:spcBef>
                <a:spcPts val="2500"/>
              </a:spcBef>
              <a:buFont typeface="Arial" panose="020B0604020202020204" pitchFamily="34" charset="0"/>
              <a:buNone/>
            </a:pPr>
            <a:r>
              <a:rPr lang="en-US" b="1"/>
              <a:t>Data Encryption</a:t>
            </a:r>
          </a:p>
          <a:p>
            <a:pPr marL="0" lvl="1" indent="0">
              <a:buFont typeface="Arial" panose="020B0604020202020204" pitchFamily="34" charset="0"/>
              <a:buNone/>
            </a:pPr>
            <a:r>
              <a:t>Data is encrypted during transmission and at rest to prevent breaches and ensure confidentiality.</a:t>
            </a:r>
            <a:endParaRPr lang="en-US"/>
          </a:p>
          <a:p>
            <a:pPr marL="0" indent="0">
              <a:spcBef>
                <a:spcPts val="2500"/>
              </a:spcBef>
              <a:buFont typeface="Arial" panose="020B0604020202020204" pitchFamily="34" charset="0"/>
              <a:buNone/>
            </a:pPr>
            <a:r>
              <a:rPr lang="en-US" b="1"/>
              <a:t>Compliance and Monitoring</a:t>
            </a:r>
          </a:p>
          <a:p>
            <a:pPr marL="0" lvl="1" indent="0">
              <a:buFont typeface="Arial" panose="020B0604020202020204" pitchFamily="34" charset="0"/>
              <a:buNone/>
            </a:pPr>
            <a:r>
              <a:t>Power BI complies with global standards like GDPR and provides audit logs for tracking user activity and accountability.</a:t>
            </a:r>
            <a:endParaRPr lang="en-US"/>
          </a:p>
        </p:txBody>
      </p:sp>
      <p:sp>
        <p:nvSpPr>
          <p:cNvPr id="5" name="Footer Placeholder 4">
            <a:extLst>
              <a:ext uri="{FF2B5EF4-FFF2-40B4-BE49-F238E27FC236}">
                <a16:creationId xmlns:a16="http://schemas.microsoft.com/office/drawing/2014/main" id="{AC9C5C7D-736A-7F58-345B-ED49EB2095B9}"/>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6A3C2C42-EFD5-7AAE-049E-648ECFB13059}"/>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D85F62EB-58AF-B5A4-0D17-2F1308365C9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10</a:t>
            </a:fld>
            <a:endParaRPr lang="en-US"/>
          </a:p>
        </p:txBody>
      </p:sp>
    </p:spTree>
    <p:extLst>
      <p:ext uri="{BB962C8B-B14F-4D97-AF65-F5344CB8AC3E}">
        <p14:creationId xmlns:p14="http://schemas.microsoft.com/office/powerpoint/2010/main" val="41683162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6C2E-78A4-A3F5-408B-2F2753859A63}"/>
              </a:ext>
            </a:extLst>
          </p:cNvPr>
          <p:cNvSpPr>
            <a:spLocks noGrp="1"/>
          </p:cNvSpPr>
          <p:nvPr>
            <p:ph type="title"/>
          </p:nvPr>
        </p:nvSpPr>
        <p:spPr>
          <a:xfrm>
            <a:off x="185877" y="1062360"/>
            <a:ext cx="9948723" cy="5762371"/>
          </a:xfrm>
        </p:spPr>
        <p:txBody>
          <a:bodyPr anchor="b">
            <a:normAutofit/>
          </a:bodyPr>
          <a:lstStyle/>
          <a:p>
            <a:r>
              <a:rPr lang="en-US"/>
              <a:t>Strategic Benefits of Power BI</a:t>
            </a:r>
          </a:p>
        </p:txBody>
      </p:sp>
      <p:sp>
        <p:nvSpPr>
          <p:cNvPr id="4" name="Footer Placeholder 3">
            <a:extLst>
              <a:ext uri="{FF2B5EF4-FFF2-40B4-BE49-F238E27FC236}">
                <a16:creationId xmlns:a16="http://schemas.microsoft.com/office/drawing/2014/main" id="{02B5FBC0-43DE-6457-A3C5-E78C7E0C54AB}"/>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48268188-3249-73EA-512F-6F40D7C65DD7}"/>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EF68A4D4-CD45-DBA9-2BA7-73482E7077A1}"/>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spTree>
    <p:extLst>
      <p:ext uri="{BB962C8B-B14F-4D97-AF65-F5344CB8AC3E}">
        <p14:creationId xmlns:p14="http://schemas.microsoft.com/office/powerpoint/2010/main" val="17022958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graphs and charts  Financial data analyzingPlease see some similar pictures from my lightbox:">
            <a:extLst>
              <a:ext uri="{FF2B5EF4-FFF2-40B4-BE49-F238E27FC236}">
                <a16:creationId xmlns:a16="http://schemas.microsoft.com/office/drawing/2014/main" id="{CFD7B798-9B2B-4EED-A387-D5C9234DDB7D}"/>
              </a:ext>
            </a:extLst>
          </p:cNvPr>
          <p:cNvPicPr>
            <a:picLocks noGrp="1" noChangeAspect="1"/>
          </p:cNvPicPr>
          <p:nvPr>
            <p:ph type="pic" sz="quarter" idx="13"/>
          </p:nvPr>
        </p:nvPicPr>
        <p:blipFill>
          <a:blip r:embed="rId3"/>
          <a:srcRect l="12637" r="20913"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54B919DA-99BA-26CF-C2CF-1B8594B6E24A}"/>
              </a:ext>
            </a:extLst>
          </p:cNvPr>
          <p:cNvSpPr>
            <a:spLocks noGrp="1"/>
          </p:cNvSpPr>
          <p:nvPr>
            <p:ph type="title"/>
          </p:nvPr>
        </p:nvSpPr>
        <p:spPr>
          <a:xfrm>
            <a:off x="1002085" y="4374100"/>
            <a:ext cx="3897905" cy="1380814"/>
          </a:xfrm>
        </p:spPr>
        <p:txBody>
          <a:bodyPr anchor="t">
            <a:normAutofit/>
          </a:bodyPr>
          <a:lstStyle/>
          <a:p>
            <a:r>
              <a:rPr lang="en-US"/>
              <a:t>Why Power BI is Important for Us</a:t>
            </a:r>
          </a:p>
        </p:txBody>
      </p:sp>
      <p:sp>
        <p:nvSpPr>
          <p:cNvPr id="4" name="Content Placeholder 3">
            <a:extLst>
              <a:ext uri="{FF2B5EF4-FFF2-40B4-BE49-F238E27FC236}">
                <a16:creationId xmlns:a16="http://schemas.microsoft.com/office/drawing/2014/main" id="{8CB5B6AE-776F-713A-7952-99EC427D209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Scalability for Growth</a:t>
            </a:r>
          </a:p>
          <a:p>
            <a:pPr marL="0" lvl="1" indent="0">
              <a:buFont typeface="Arial" panose="020B0604020202020204" pitchFamily="34" charset="0"/>
              <a:buNone/>
            </a:pPr>
            <a:r>
              <a:t>Power BI handles large complex datasets efficiently, supporting growing business data needs without performance loss.</a:t>
            </a:r>
            <a:endParaRPr lang="en-US"/>
          </a:p>
          <a:p>
            <a:pPr marL="0" indent="0">
              <a:spcBef>
                <a:spcPts val="2500"/>
              </a:spcBef>
              <a:buFont typeface="Arial" panose="020B0604020202020204" pitchFamily="34" charset="0"/>
              <a:buNone/>
            </a:pPr>
            <a:r>
              <a:rPr lang="en-US" b="1"/>
              <a:t>Enhanced Collaboration</a:t>
            </a:r>
          </a:p>
          <a:p>
            <a:pPr marL="0" lvl="1" indent="0">
              <a:buFont typeface="Arial" panose="020B0604020202020204" pitchFamily="34" charset="0"/>
              <a:buNone/>
            </a:pPr>
            <a:r>
              <a:t>Secure sharing of reports and dashboards enables teamwork and informed decision-making within organizations.</a:t>
            </a:r>
            <a:endParaRPr lang="en-US"/>
          </a:p>
          <a:p>
            <a:pPr marL="0" indent="0">
              <a:spcBef>
                <a:spcPts val="2500"/>
              </a:spcBef>
              <a:buFont typeface="Arial" panose="020B0604020202020204" pitchFamily="34" charset="0"/>
              <a:buNone/>
            </a:pPr>
            <a:r>
              <a:rPr lang="en-US" b="1"/>
              <a:t>Cost-Effective Solution</a:t>
            </a:r>
          </a:p>
          <a:p>
            <a:pPr marL="0" lvl="1" indent="0">
              <a:buFont typeface="Arial" panose="020B0604020202020204" pitchFamily="34" charset="0"/>
              <a:buNone/>
            </a:pPr>
            <a:r>
              <a:t>Power BI reduces overhead by consolidating reporting tools, simplifying analytics and lowering costs.</a:t>
            </a:r>
            <a:endParaRPr lang="en-US"/>
          </a:p>
          <a:p>
            <a:pPr marL="0" indent="0">
              <a:spcBef>
                <a:spcPts val="2500"/>
              </a:spcBef>
              <a:buFont typeface="Arial" panose="020B0604020202020204" pitchFamily="34" charset="0"/>
              <a:buNone/>
            </a:pPr>
            <a:r>
              <a:rPr lang="en-US" b="1"/>
              <a:t>Advanced Analytics Features</a:t>
            </a:r>
          </a:p>
          <a:p>
            <a:pPr marL="0" lvl="1" indent="0">
              <a:buFont typeface="Arial" panose="020B0604020202020204" pitchFamily="34" charset="0"/>
              <a:buNone/>
            </a:pPr>
            <a:r>
              <a:t>Supports AI-driven insights, predictive analytics, and automated alerts to enhance business decision-making.</a:t>
            </a:r>
            <a:endParaRPr lang="en-US"/>
          </a:p>
        </p:txBody>
      </p:sp>
      <p:sp>
        <p:nvSpPr>
          <p:cNvPr id="5" name="Footer Placeholder 4">
            <a:extLst>
              <a:ext uri="{FF2B5EF4-FFF2-40B4-BE49-F238E27FC236}">
                <a16:creationId xmlns:a16="http://schemas.microsoft.com/office/drawing/2014/main" id="{013A6290-731A-DB5D-91CF-56E474C460F6}"/>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83B7CD9-18B6-807E-C3C0-CA94F44DC02D}"/>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3948FC39-4313-7441-290C-BD792A41AE4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spTree>
    <p:extLst>
      <p:ext uri="{BB962C8B-B14F-4D97-AF65-F5344CB8AC3E}">
        <p14:creationId xmlns:p14="http://schemas.microsoft.com/office/powerpoint/2010/main" val="1780498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DC259-B9DF-C8DF-B90A-6CF31625FD0D}"/>
              </a:ext>
            </a:extLst>
          </p:cNvPr>
          <p:cNvSpPr>
            <a:spLocks noGrp="1"/>
          </p:cNvSpPr>
          <p:nvPr>
            <p:ph type="title"/>
          </p:nvPr>
        </p:nvSpPr>
        <p:spPr>
          <a:xfrm>
            <a:off x="185877" y="1062360"/>
            <a:ext cx="9948723" cy="5762371"/>
          </a:xfrm>
        </p:spPr>
        <p:txBody>
          <a:bodyPr anchor="b">
            <a:normAutofit/>
          </a:bodyPr>
          <a:lstStyle/>
          <a:p>
            <a:r>
              <a:rPr lang="en-US"/>
              <a:t>Next Steps</a:t>
            </a:r>
          </a:p>
        </p:txBody>
      </p:sp>
      <p:sp>
        <p:nvSpPr>
          <p:cNvPr id="4" name="Footer Placeholder 3">
            <a:extLst>
              <a:ext uri="{FF2B5EF4-FFF2-40B4-BE49-F238E27FC236}">
                <a16:creationId xmlns:a16="http://schemas.microsoft.com/office/drawing/2014/main" id="{2AE92C54-FFEA-A305-A060-B65869DADCAB}"/>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A414B21B-1287-BFA9-5EC4-39D944DB1645}"/>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12/10/2025</a:t>
            </a:fld>
            <a:endParaRPr lang="en-US"/>
          </a:p>
        </p:txBody>
      </p:sp>
      <p:sp>
        <p:nvSpPr>
          <p:cNvPr id="6" name="Slide Number Placeholder 5">
            <a:extLst>
              <a:ext uri="{FF2B5EF4-FFF2-40B4-BE49-F238E27FC236}">
                <a16:creationId xmlns:a16="http://schemas.microsoft.com/office/drawing/2014/main" id="{C944BF9D-A531-F1E8-F188-E7B5CAE7275A}"/>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spTree>
    <p:extLst>
      <p:ext uri="{BB962C8B-B14F-4D97-AF65-F5344CB8AC3E}">
        <p14:creationId xmlns:p14="http://schemas.microsoft.com/office/powerpoint/2010/main" val="1420584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hot of a group of programmers working together on a computer code at night">
            <a:extLst>
              <a:ext uri="{FF2B5EF4-FFF2-40B4-BE49-F238E27FC236}">
                <a16:creationId xmlns:a16="http://schemas.microsoft.com/office/drawing/2014/main" id="{4E8CB142-DA2B-47F5-B40F-F28E40410AA8}"/>
              </a:ext>
            </a:extLst>
          </p:cNvPr>
          <p:cNvPicPr>
            <a:picLocks noGrp="1" noChangeAspect="1"/>
          </p:cNvPicPr>
          <p:nvPr>
            <p:ph type="pic" sz="quarter" idx="13"/>
          </p:nvPr>
        </p:nvPicPr>
        <p:blipFill>
          <a:blip r:embed="rId3"/>
          <a:srcRect l="33552" r="-2"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75ADBC71-4BB6-D29F-BB0E-D4C742E6F7B7}"/>
              </a:ext>
            </a:extLst>
          </p:cNvPr>
          <p:cNvSpPr>
            <a:spLocks noGrp="1"/>
          </p:cNvSpPr>
          <p:nvPr>
            <p:ph type="title"/>
          </p:nvPr>
        </p:nvSpPr>
        <p:spPr>
          <a:xfrm>
            <a:off x="1002085" y="4374100"/>
            <a:ext cx="3897905" cy="1380814"/>
          </a:xfrm>
        </p:spPr>
        <p:txBody>
          <a:bodyPr anchor="t">
            <a:normAutofit/>
          </a:bodyPr>
          <a:lstStyle/>
          <a:p>
            <a:r>
              <a:rPr lang="en-US"/>
              <a:t>Call to Action</a:t>
            </a:r>
          </a:p>
        </p:txBody>
      </p:sp>
      <p:sp>
        <p:nvSpPr>
          <p:cNvPr id="4" name="Content Placeholder 3">
            <a:extLst>
              <a:ext uri="{FF2B5EF4-FFF2-40B4-BE49-F238E27FC236}">
                <a16:creationId xmlns:a16="http://schemas.microsoft.com/office/drawing/2014/main" id="{3F8DE4E4-0851-3870-040C-39B574B108D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Approve Power BI Integration</a:t>
            </a:r>
          </a:p>
          <a:p>
            <a:pPr marL="0" lvl="1" indent="0">
              <a:buFont typeface="Arial" panose="020B0604020202020204" pitchFamily="34" charset="0"/>
              <a:buNone/>
            </a:pPr>
            <a:r>
              <a:t>Authorize continued use and integration of Power BI to streamline data processes and enhance collaboration.</a:t>
            </a:r>
            <a:endParaRPr lang="en-US"/>
          </a:p>
          <a:p>
            <a:pPr marL="0" indent="0">
              <a:spcBef>
                <a:spcPts val="2500"/>
              </a:spcBef>
              <a:buFont typeface="Arial" panose="020B0604020202020204" pitchFamily="34" charset="0"/>
              <a:buNone/>
            </a:pPr>
            <a:r>
              <a:rPr lang="en-US" b="1"/>
              <a:t>Explore Advanced Analytics</a:t>
            </a:r>
          </a:p>
          <a:p>
            <a:pPr marL="0" lvl="1" indent="0">
              <a:buFont typeface="Arial" panose="020B0604020202020204" pitchFamily="34" charset="0"/>
              <a:buNone/>
            </a:pPr>
            <a:r>
              <a:t>Utilize AI-driven analytics and automated alerts to optimize operations and gain a competitive edge.</a:t>
            </a:r>
            <a:endParaRPr lang="en-US"/>
          </a:p>
          <a:p>
            <a:pPr marL="0" indent="0">
              <a:spcBef>
                <a:spcPts val="2500"/>
              </a:spcBef>
              <a:buFont typeface="Arial" panose="020B0604020202020204" pitchFamily="34" charset="0"/>
              <a:buNone/>
            </a:pPr>
            <a:r>
              <a:rPr lang="en-US" b="1"/>
              <a:t>Invest in Training and Governance</a:t>
            </a:r>
          </a:p>
          <a:p>
            <a:pPr marL="0" lvl="1" indent="0">
              <a:buFont typeface="Arial" panose="020B0604020202020204" pitchFamily="34" charset="0"/>
              <a:buNone/>
            </a:pPr>
            <a:r>
              <a:t>Provide training and enforce governance to maximize platform capabilities while ensuring security and compliance.</a:t>
            </a:r>
            <a:endParaRPr lang="en-US"/>
          </a:p>
          <a:p>
            <a:pPr marL="0" indent="0">
              <a:spcBef>
                <a:spcPts val="2500"/>
              </a:spcBef>
              <a:buFont typeface="Arial" panose="020B0604020202020204" pitchFamily="34" charset="0"/>
              <a:buNone/>
            </a:pPr>
            <a:r>
              <a:rPr lang="en-US" b="1"/>
              <a:t>Build Data-Driven Culture</a:t>
            </a:r>
          </a:p>
          <a:p>
            <a:pPr marL="0" lvl="1" indent="0">
              <a:buFont typeface="Arial" panose="020B0604020202020204" pitchFamily="34" charset="0"/>
              <a:buNone/>
            </a:pPr>
            <a:r>
              <a:t>Foster a data-driven culture supporting strategic objectives and long-term organizational growth.</a:t>
            </a:r>
            <a:endParaRPr lang="en-US"/>
          </a:p>
        </p:txBody>
      </p:sp>
      <p:sp>
        <p:nvSpPr>
          <p:cNvPr id="5" name="Footer Placeholder 4">
            <a:extLst>
              <a:ext uri="{FF2B5EF4-FFF2-40B4-BE49-F238E27FC236}">
                <a16:creationId xmlns:a16="http://schemas.microsoft.com/office/drawing/2014/main" id="{8F6AA1BD-5B12-632B-B7CC-F60E72767C6A}"/>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97D69D4B-0DA5-9CCC-A73E-02EEC2902357}"/>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FDAFA919-D784-FC23-22E3-A2FBE9D5D1C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14</a:t>
            </a:fld>
            <a:endParaRPr lang="en-US"/>
          </a:p>
        </p:txBody>
      </p:sp>
    </p:spTree>
    <p:extLst>
      <p:ext uri="{BB962C8B-B14F-4D97-AF65-F5344CB8AC3E}">
        <p14:creationId xmlns:p14="http://schemas.microsoft.com/office/powerpoint/2010/main" val="2842716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C4606-545D-6C22-1A3C-C3B53260FF20}"/>
              </a:ext>
            </a:extLst>
          </p:cNvPr>
          <p:cNvSpPr>
            <a:spLocks noGrp="1"/>
          </p:cNvSpPr>
          <p:nvPr>
            <p:ph type="title"/>
          </p:nvPr>
        </p:nvSpPr>
        <p:spPr>
          <a:xfrm>
            <a:off x="603504" y="499475"/>
            <a:ext cx="3625442" cy="1474692"/>
          </a:xfrm>
        </p:spPr>
        <p:txBody>
          <a:bodyPr anchor="b">
            <a:normAutofit/>
          </a:bodyPr>
          <a:lstStyle/>
          <a:p>
            <a:r>
              <a:rPr lang="en-US"/>
              <a:t>Dashboard Screenshot Placeholder</a:t>
            </a:r>
          </a:p>
        </p:txBody>
      </p:sp>
      <p:sp>
        <p:nvSpPr>
          <p:cNvPr id="4" name="Content Placeholder 3">
            <a:extLst>
              <a:ext uri="{FF2B5EF4-FFF2-40B4-BE49-F238E27FC236}">
                <a16:creationId xmlns:a16="http://schemas.microsoft.com/office/drawing/2014/main" id="{F465F5E7-3EA3-8F58-6550-9866BC4BE21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432" y="2124222"/>
            <a:ext cx="3567404" cy="3488788"/>
          </a:xfrm>
        </p:spPr>
        <p:txBody>
          <a:bodyPr>
            <a:normAutofit/>
          </a:bodyPr>
          <a:lstStyle/>
          <a:p>
            <a:pPr marL="0" indent="0">
              <a:spcBef>
                <a:spcPts val="2500"/>
              </a:spcBef>
              <a:buFont typeface="Arial" panose="020B0604020202020204" pitchFamily="34" charset="0"/>
              <a:buNone/>
            </a:pPr>
            <a:r>
              <a:rPr lang="en-US" b="1"/>
              <a:t>Dashboard Layout Overview</a:t>
            </a:r>
          </a:p>
          <a:p>
            <a:pPr marL="0" lvl="1" indent="0">
              <a:buFont typeface="Arial" panose="020B0604020202020204" pitchFamily="34" charset="0"/>
              <a:buNone/>
            </a:pPr>
            <a:r>
              <a:t>The dashboard provides an organized layout for easy navigation and quick data insights.</a:t>
            </a:r>
            <a:endParaRPr lang="en-US"/>
          </a:p>
          <a:p>
            <a:pPr marL="0" indent="0">
              <a:spcBef>
                <a:spcPts val="2500"/>
              </a:spcBef>
              <a:buFont typeface="Arial" panose="020B0604020202020204" pitchFamily="34" charset="0"/>
              <a:buNone/>
            </a:pPr>
            <a:r>
              <a:rPr lang="en-US" b="1"/>
              <a:t>Data Visualization Features</a:t>
            </a:r>
          </a:p>
          <a:p>
            <a:pPr marL="0" lvl="1" indent="0">
              <a:buFont typeface="Arial" panose="020B0604020202020204" pitchFamily="34" charset="0"/>
              <a:buNone/>
            </a:pPr>
            <a:r>
              <a:t>Includes various charts and graphs to visually represent key performance indicators and trends.</a:t>
            </a:r>
            <a:endParaRPr lang="en-US"/>
          </a:p>
          <a:p>
            <a:pPr marL="0" indent="0">
              <a:spcBef>
                <a:spcPts val="2500"/>
              </a:spcBef>
              <a:buFont typeface="Arial" panose="020B0604020202020204" pitchFamily="34" charset="0"/>
              <a:buNone/>
            </a:pPr>
            <a:r>
              <a:rPr lang="en-US" b="1"/>
              <a:t>Functionality and Usability</a:t>
            </a:r>
          </a:p>
          <a:p>
            <a:pPr marL="0" lvl="1" indent="0">
              <a:buFont typeface="Arial" panose="020B0604020202020204" pitchFamily="34" charset="0"/>
              <a:buNone/>
            </a:pPr>
            <a:r>
              <a:t>Designed for intuitive use, enabling stakeholders to interact and gain insights efficiently.</a:t>
            </a:r>
            <a:endParaRPr lang="en-US"/>
          </a:p>
        </p:txBody>
      </p:sp>
      <p:pic>
        <p:nvPicPr>
          <p:cNvPr id="8" name="Content Placeholder 7" descr="Financial graphs on a dark display">
            <a:extLst>
              <a:ext uri="{FF2B5EF4-FFF2-40B4-BE49-F238E27FC236}">
                <a16:creationId xmlns:a16="http://schemas.microsoft.com/office/drawing/2014/main" id="{ACC99B91-50DC-4567-B390-07E637A94835}"/>
              </a:ext>
            </a:extLst>
          </p:cNvPr>
          <p:cNvPicPr>
            <a:picLocks noGrp="1" noChangeAspect="1"/>
          </p:cNvPicPr>
          <p:nvPr>
            <p:ph type="pic" sz="quarter" idx="13"/>
          </p:nvPr>
        </p:nvPicPr>
        <p:blipFill>
          <a:blip r:embed="rId3"/>
          <a:srcRect l="5829" r="11122" b="-2"/>
          <a:stretch>
            <a:fillRect/>
          </a:stretch>
        </p:blipFill>
        <p:spPr>
          <a:xfrm>
            <a:off x="4800601" y="10"/>
            <a:ext cx="7391400" cy="5562590"/>
          </a:xfrm>
          <a:prstGeom prst="rect">
            <a:avLst/>
          </a:prstGeom>
          <a:noFill/>
        </p:spPr>
      </p:pic>
      <p:sp>
        <p:nvSpPr>
          <p:cNvPr id="5" name="Footer Placeholder 4">
            <a:extLst>
              <a:ext uri="{FF2B5EF4-FFF2-40B4-BE49-F238E27FC236}">
                <a16:creationId xmlns:a16="http://schemas.microsoft.com/office/drawing/2014/main" id="{8104B25B-B33C-22E6-D48C-1C42D5B90DB1}"/>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9F1ECA32-7F21-6901-C949-58957C62D989}"/>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12/10/2025</a:t>
            </a:fld>
            <a:endParaRPr lang="en-US"/>
          </a:p>
        </p:txBody>
      </p:sp>
      <p:sp>
        <p:nvSpPr>
          <p:cNvPr id="7" name="Slide Number Placeholder 6">
            <a:extLst>
              <a:ext uri="{FF2B5EF4-FFF2-40B4-BE49-F238E27FC236}">
                <a16:creationId xmlns:a16="http://schemas.microsoft.com/office/drawing/2014/main" id="{CE81B15E-934D-524D-B5C1-977862C299ED}"/>
              </a:ext>
            </a:extLst>
          </p:cNvPr>
          <p:cNvSpPr>
            <a:spLocks noGrp="1"/>
          </p:cNvSpPr>
          <p:nvPr>
            <p:ph type="sldNum" sz="quarter" idx="12"/>
          </p:nvPr>
        </p:nvSpPr>
        <p:spPr>
          <a:xfrm>
            <a:off x="11238206" y="6029868"/>
            <a:ext cx="429372" cy="365125"/>
          </a:xfrm>
        </p:spPr>
        <p:txBody>
          <a:bodyPr anchor="ctr">
            <a:normAutofit/>
          </a:bodyPr>
          <a:lstStyle/>
          <a:p>
            <a:pPr>
              <a:spcAft>
                <a:spcPts val="600"/>
              </a:spcAft>
            </a:pPr>
            <a:fld id="{27F8DDA4-3B80-4E8A-A8F5-521F73BF9127}" type="slidenum">
              <a:rPr lang="en-US" smtClean="0"/>
              <a:pPr>
                <a:spcAft>
                  <a:spcPts val="600"/>
                </a:spcAft>
              </a:pPr>
              <a:t>15</a:t>
            </a:fld>
            <a:endParaRPr lang="en-US"/>
          </a:p>
        </p:txBody>
      </p:sp>
    </p:spTree>
    <p:extLst>
      <p:ext uri="{BB962C8B-B14F-4D97-AF65-F5344CB8AC3E}">
        <p14:creationId xmlns:p14="http://schemas.microsoft.com/office/powerpoint/2010/main" val="1654121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7D331F-9E03-42FF-A5D8-8CA51554CE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BC0E98-53B2-45AC-A2D3-5CB4F53EE9F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566138A-5333-4F8F-852B-472D6D0F0B7A}">
  <ds:schemaRefs>
    <ds:schemaRef ds:uri="http://schemas.microsoft.com/sharepoint/v3/contenttype/forms"/>
  </ds:schemaRefs>
</ds:datastoreItem>
</file>

<file path=docMetadata/LabelInfo.xml><?xml version="1.0" encoding="utf-8"?>
<clbl:labelList xmlns:clbl="http://schemas.microsoft.com/office/2020/mipLabelMetadata">
  <clbl:label id="{de3e0bd1-8a42-4fca-bd15-c152a08a9459}" enabled="1" method="Privileged" siteId="{d703bd9e-2913-4bf9-8dd7-49ce1b18bd11}" removed="0"/>
</clbl:labelList>
</file>

<file path=docProps/app.xml><?xml version="1.0" encoding="utf-8"?>
<Properties xmlns="http://schemas.openxmlformats.org/officeDocument/2006/extended-properties" xmlns:vt="http://schemas.openxmlformats.org/officeDocument/2006/docPropsVTypes">
  <Template/>
  <TotalTime>47</TotalTime>
  <Words>1372</Words>
  <Application>Microsoft Office PowerPoint</Application>
  <PresentationFormat>Widescreen</PresentationFormat>
  <Paragraphs>123</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Oswald SemiBold</vt:lpstr>
      <vt:lpstr>Univers Condensed Light</vt:lpstr>
      <vt:lpstr>Orange experience</vt:lpstr>
      <vt:lpstr>PowerPoint Presentation</vt:lpstr>
      <vt:lpstr>PowerPoint Presentation</vt:lpstr>
      <vt:lpstr>PowerPoint Presentation</vt:lpstr>
      <vt:lpstr>Power BI Dashboard: Driving Insights Securely</vt:lpstr>
      <vt:lpstr>Introduction to Power BI</vt:lpstr>
      <vt:lpstr>What is Power BI?</vt:lpstr>
      <vt:lpstr>Importance of the Dashboard</vt:lpstr>
      <vt:lpstr>Why This Dashboard Matters</vt:lpstr>
      <vt:lpstr>Security and Compliance</vt:lpstr>
      <vt:lpstr>Security &amp; Compliance</vt:lpstr>
      <vt:lpstr>Strategic Benefits of Power BI</vt:lpstr>
      <vt:lpstr>Why Power BI is Important for Us</vt:lpstr>
      <vt:lpstr>Next Steps</vt:lpstr>
      <vt:lpstr>Call to Action</vt:lpstr>
      <vt:lpstr>Dashboard Screenshot Placeholder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Muhammad Syahid Bin Abd Halid</cp:lastModifiedBy>
  <cp:revision>6</cp:revision>
  <dcterms:created xsi:type="dcterms:W3CDTF">2025-08-04T23:28:37Z</dcterms:created>
  <dcterms:modified xsi:type="dcterms:W3CDTF">2025-12-10T09:11:41Z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